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Australia doing well? The tempting answer is to build one number and rank it. We did — and then spent the whole project trying to break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OECD's well-being data, Australia comes fourteenth of thirty-eight. But a single number is the least honest way to answer a vague question — so we refined it, and spent the rest of the project trying to break our own verdict.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Standardised against the OECD, Australia is best in the club on voter turnout, top-ten on income and life expectancy — and at the same time bottom-quartile on long hours, negative emotions and heat. Averaging those doesn't summarise Australia. It erases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 even the fourteenth real? A three-thousand-run Monte-Carlo — noise plus indicator resampling — keeps Australia above the OECD median in eighty-nine percent of worlds, but in the top third only forty-four. Above average is a finding; among the best is a recipe choice. The biggest lever: compulsory voting.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rank is a snapshot; direction matters more. Tested with Mann-Kendall and Theil–Sen, built from scratch, the country splits cleanly and the split is real. Improving: income, jobs, life expectancy, even falling work hours. Worsening: social support, and deaths of despair. Richer at work, lonelier at heart.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obvious rebuttal: maybe everyone's getting lonelier. It fails. Australia's rise in loneliness and in deaths of despair each outpaced roughly eighty-nine percent of the OECD — and on deaths of despair, the OECD median actually fell. On its weakest dimensions, Australia moves against the 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data has a hole — the most damning one. Life satisfaction goes dark after 2020, exactly where we found trouble. We filled it with the World Happiness Report: Australians' own life ratings have slid to a record-low six-point-nine-seven, eleventh in the world. A different survey, the same verdict.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— is Australia doing well? Above average, and quietly sliding on the things hardest to count. In 2023 the Treasury launched Australia's first national well-being framework on exactly this premise. The data don't just answer the question — they say where to point: not the income line, which is fine. At connection, and distress.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6"/>
          </a:solidFill>
          <a:ln/>
        </p:spPr>
      </p:sp>
      <p:sp>
        <p:nvSpPr>
          <p:cNvPr id="3" name="Text 1"/>
          <p:cNvSpPr/>
          <p:nvPr/>
        </p:nvSpPr>
        <p:spPr>
          <a:xfrm>
            <a:off x="7223760" y="45720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0" i="1" dirty="0">
                <a:solidFill>
                  <a:srgbClr val="16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14ᵗʰ / 38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0A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DATA ANALYSIS CHALLENGE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6400" b="1" dirty="0">
                <a:solidFill>
                  <a:srgbClr val="EA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Australia</a:t>
            </a:r>
            <a:endParaRPr lang="en-US" sz="6400" dirty="0"/>
          </a:p>
          <a:p>
            <a:pPr indent="0" marL="0">
              <a:lnSpc>
                <a:spcPts val="6000"/>
              </a:lnSpc>
              <a:buNone/>
            </a:pPr>
            <a:r>
              <a:rPr lang="en-US" sz="6400" b="1" dirty="0">
                <a:solidFill>
                  <a:srgbClr val="EA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Doing Well?</a:t>
            </a:r>
            <a:endParaRPr lang="en-US" sz="6400" dirty="0"/>
          </a:p>
        </p:txBody>
      </p:sp>
      <p:sp>
        <p:nvSpPr>
          <p:cNvPr id="6" name="anim1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country, three verdicts — a stress-tested well-being audit, 2010–2025.</a:t>
            </a:r>
            <a:endParaRPr lang="en-US" sz="1900" dirty="0"/>
          </a:p>
        </p:txBody>
      </p:sp>
      <p:sp>
        <p:nvSpPr>
          <p:cNvPr id="7" name="anim2"/>
          <p:cNvSpPr/>
          <p:nvPr/>
        </p:nvSpPr>
        <p:spPr>
          <a:xfrm>
            <a:off x="822960" y="5029200"/>
            <a:ext cx="2148840" cy="566928"/>
          </a:xfrm>
          <a:prstGeom prst="roundRect">
            <a:avLst>
              <a:gd name="adj" fmla="val 50000"/>
            </a:avLst>
          </a:prstGeom>
          <a:solidFill>
            <a:srgbClr val="E0A92E"/>
          </a:solidFill>
          <a:ln/>
        </p:spPr>
      </p:sp>
      <p:sp>
        <p:nvSpPr>
          <p:cNvPr id="8" name="anim2"/>
          <p:cNvSpPr/>
          <p:nvPr/>
        </p:nvSpPr>
        <p:spPr>
          <a:xfrm>
            <a:off x="822960" y="50292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</a:t>
            </a:r>
            <a:pPr algn="ctr" indent="0" marL="0">
              <a:buNone/>
            </a:pPr>
            <a:r>
              <a:rPr lang="en-US" sz="1700" b="1" dirty="0">
                <a:solidFill>
                  <a:srgbClr val="0E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 4</a:t>
            </a:r>
            <a:endParaRPr lang="en-US" sz="1700" dirty="0"/>
          </a:p>
        </p:txBody>
      </p:sp>
      <p:sp>
        <p:nvSpPr>
          <p:cNvPr id="9" name="anim3"/>
          <p:cNvSpPr/>
          <p:nvPr/>
        </p:nvSpPr>
        <p:spPr>
          <a:xfrm>
            <a:off x="3154680" y="50292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Atharva Aher   ·   Mokshithh Kethari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0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1" animBg="1"/>
      <p:bldP spid="8" grpId="2" animBg="1"/>
      <p:bldP spid="9" grpId="3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tempting answer is one number.</a:t>
            </a:r>
            <a:endParaRPr lang="en-US" sz="3400" dirty="0"/>
          </a:p>
        </p:txBody>
      </p:sp>
      <p:sp>
        <p:nvSpPr>
          <p:cNvPr id="4" name="anim1"/>
          <p:cNvSpPr/>
          <p:nvPr/>
        </p:nvSpPr>
        <p:spPr>
          <a:xfrm>
            <a:off x="640080" y="233172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0" b="1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pPr algn="ctr" indent="0" marL="0">
              <a:buNone/>
            </a:pPr>
            <a:r>
              <a:rPr lang="en-US" sz="6000" b="1" baseline="30000" dirty="0">
                <a:solidFill>
                  <a:srgbClr val="1B3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</a:t>
            </a:r>
            <a:endParaRPr lang="en-US" sz="13500" dirty="0"/>
          </a:p>
        </p:txBody>
      </p:sp>
      <p:sp>
        <p:nvSpPr>
          <p:cNvPr id="5" name="anim1"/>
          <p:cNvSpPr/>
          <p:nvPr/>
        </p:nvSpPr>
        <p:spPr>
          <a:xfrm>
            <a:off x="640080" y="41148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38 OECD countries</a:t>
            </a:r>
            <a:endParaRPr lang="en-US" sz="1600" dirty="0"/>
          </a:p>
        </p:txBody>
      </p:sp>
      <p:sp>
        <p:nvSpPr>
          <p:cNvPr id="6" name="anim1"/>
          <p:cNvSpPr/>
          <p:nvPr/>
        </p:nvSpPr>
        <p:spPr>
          <a:xfrm>
            <a:off x="640080" y="4480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composite well-being score</a:t>
            </a:r>
            <a:endParaRPr lang="en-US" sz="1300" dirty="0"/>
          </a:p>
        </p:txBody>
      </p:sp>
      <p:sp>
        <p:nvSpPr>
          <p:cNvPr id="7" name="anim2"/>
          <p:cNvSpPr/>
          <p:nvPr/>
        </p:nvSpPr>
        <p:spPr>
          <a:xfrm>
            <a:off x="5212080" y="2286000"/>
            <a:ext cx="630936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  <a:effectLst>
            <a:outerShdw sx="100000" sy="100000" kx="0" ky="0" algn="bl" rotWithShape="0" blurRad="114300" dist="38100" dir="5400000">
              <a:srgbClr val="9FB4C6">
                <a:alpha val="35000"/>
              </a:srgbClr>
            </a:outerShdw>
          </a:effectLst>
        </p:spPr>
      </p:sp>
      <p:sp>
        <p:nvSpPr>
          <p:cNvPr id="8" name="anim2"/>
          <p:cNvSpPr/>
          <p:nvPr/>
        </p:nvSpPr>
        <p:spPr>
          <a:xfrm>
            <a:off x="5486400" y="25146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single number is the least honest way to answer a vague question.</a:t>
            </a:r>
            <a:endParaRPr lang="en-US" sz="1900" dirty="0"/>
          </a:p>
        </p:txBody>
      </p:sp>
      <p:sp>
        <p:nvSpPr>
          <p:cNvPr id="9" name="anim2"/>
          <p:cNvSpPr/>
          <p:nvPr/>
        </p:nvSpPr>
        <p:spPr>
          <a:xfrm>
            <a:off x="5486400" y="342900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refined it: is that rank robust to how we measure, to which dimensions we count, and to which way the country is moving?</a:t>
            </a:r>
            <a:endParaRPr lang="en-US" sz="15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4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1" animBg="1"/>
      <p:bldP spid="6" grpId="2" animBg="1"/>
      <p:bldP spid="7" grpId="3" animBg="1"/>
      <p:bldP spid="8" grpId="4" animBg="1"/>
      <p:bldP spid="9" grpId="5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Australia is not one thing</a:t>
            </a:r>
            <a:endParaRPr lang="en-US" sz="3200" dirty="0"/>
          </a:p>
        </p:txBody>
      </p:sp>
      <p:pic>
        <p:nvPicPr>
          <p:cNvPr id="4" name="anim1" descr="/sessions/practical-modest-lovelace/mnt/outputs/wdac/check/v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783080"/>
            <a:ext cx="7680960" cy="4572000"/>
          </a:xfrm>
          <a:prstGeom prst="rect">
            <a:avLst/>
          </a:prstGeom>
        </p:spPr>
      </p:pic>
      <p:sp>
        <p:nvSpPr>
          <p:cNvPr id="5" name="anim2"/>
          <p:cNvSpPr/>
          <p:nvPr/>
        </p:nvSpPr>
        <p:spPr>
          <a:xfrm>
            <a:off x="822960" y="2011680"/>
            <a:ext cx="3063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6" name="anim2"/>
          <p:cNvSpPr/>
          <p:nvPr/>
        </p:nvSpPr>
        <p:spPr>
          <a:xfrm>
            <a:off x="1005840" y="221284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8B60"/>
          </a:solidFill>
          <a:ln/>
        </p:spPr>
      </p:sp>
      <p:sp>
        <p:nvSpPr>
          <p:cNvPr id="7" name="anim2"/>
          <p:cNvSpPr/>
          <p:nvPr/>
        </p:nvSpPr>
        <p:spPr>
          <a:xfrm>
            <a:off x="1005840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anim2"/>
          <p:cNvSpPr/>
          <p:nvPr/>
        </p:nvSpPr>
        <p:spPr>
          <a:xfrm>
            <a:off x="146304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in the OECD</a:t>
            </a:r>
            <a:endParaRPr lang="en-US" sz="1500" dirty="0"/>
          </a:p>
        </p:txBody>
      </p:sp>
      <p:sp>
        <p:nvSpPr>
          <p:cNvPr id="9" name="anim2"/>
          <p:cNvSpPr/>
          <p:nvPr/>
        </p:nvSpPr>
        <p:spPr>
          <a:xfrm>
            <a:off x="1005840" y="2651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voter turnout · income · life expectancy</a:t>
            </a:r>
            <a:endParaRPr lang="en-US" sz="1250" dirty="0"/>
          </a:p>
        </p:txBody>
      </p:sp>
      <p:sp>
        <p:nvSpPr>
          <p:cNvPr id="10" name="anim3"/>
          <p:cNvSpPr/>
          <p:nvPr/>
        </p:nvSpPr>
        <p:spPr>
          <a:xfrm>
            <a:off x="822960" y="3611880"/>
            <a:ext cx="3063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1" name="anim3"/>
          <p:cNvSpPr/>
          <p:nvPr/>
        </p:nvSpPr>
        <p:spPr>
          <a:xfrm>
            <a:off x="1005840" y="381304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2" name="anim3"/>
          <p:cNvSpPr/>
          <p:nvPr/>
        </p:nvSpPr>
        <p:spPr>
          <a:xfrm>
            <a:off x="1005840" y="3813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3" name="anim3"/>
          <p:cNvSpPr/>
          <p:nvPr/>
        </p:nvSpPr>
        <p:spPr>
          <a:xfrm>
            <a:off x="146304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quartile</a:t>
            </a:r>
            <a:endParaRPr lang="en-US" sz="1500" dirty="0"/>
          </a:p>
        </p:txBody>
      </p:sp>
      <p:sp>
        <p:nvSpPr>
          <p:cNvPr id="14" name="anim3"/>
          <p:cNvSpPr/>
          <p:nvPr/>
        </p:nvSpPr>
        <p:spPr>
          <a:xfrm>
            <a:off x="1005840" y="42519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hours · negative emotions · heat exposure</a:t>
            </a:r>
            <a:endParaRPr lang="en-US" sz="1250" dirty="0"/>
          </a:p>
        </p:txBody>
      </p:sp>
      <p:sp>
        <p:nvSpPr>
          <p:cNvPr id="15" name="anim4"/>
          <p:cNvSpPr/>
          <p:nvPr/>
        </p:nvSpPr>
        <p:spPr>
          <a:xfrm>
            <a:off x="822960" y="52578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6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these into one score doesn't summarise Australia — it erases it.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46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1" animBg="1"/>
      <p:bldP spid="6" grpId="2" animBg="1"/>
      <p:bldP spid="7" grpId="3" animBg="1"/>
      <p:bldP spid="8" grpId="4" animBg="1"/>
      <p:bldP spid="9" grpId="5" animBg="1"/>
      <p:bldP spid="10" grpId="6" animBg="1"/>
      <p:bldP spid="11" grpId="7" animBg="1"/>
      <p:bldP spid="12" grpId="8" animBg="1"/>
      <p:bldP spid="13" grpId="9" animBg="1"/>
      <p:bldP spid="14" grpId="10" animBg="1"/>
      <p:bldP spid="15" grpId="1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“above average” is robust</a:t>
            </a:r>
            <a:endParaRPr lang="en-US" sz="3200" dirty="0"/>
          </a:p>
        </p:txBody>
      </p:sp>
      <p:pic>
        <p:nvPicPr>
          <p:cNvPr id="4" name="anim1" descr="/sessions/practical-modest-lovelace/mnt/outputs/wdac/check/v2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1737360"/>
            <a:ext cx="7863840" cy="4791456"/>
          </a:xfrm>
          <a:prstGeom prst="rect">
            <a:avLst/>
          </a:prstGeom>
        </p:spPr>
      </p:pic>
      <p:sp>
        <p:nvSpPr>
          <p:cNvPr id="5" name="anim2"/>
          <p:cNvSpPr/>
          <p:nvPr/>
        </p:nvSpPr>
        <p:spPr>
          <a:xfrm>
            <a:off x="822960" y="1783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E8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4200" dirty="0"/>
          </a:p>
        </p:txBody>
      </p:sp>
      <p:sp>
        <p:nvSpPr>
          <p:cNvPr id="6" name="anim2"/>
          <p:cNvSpPr/>
          <p:nvPr/>
        </p:nvSpPr>
        <p:spPr>
          <a:xfrm>
            <a:off x="822960" y="25328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perturbed worlds keep Australia above the OECD median</a:t>
            </a:r>
            <a:endParaRPr lang="en-US" sz="1250" dirty="0"/>
          </a:p>
        </p:txBody>
      </p:sp>
      <p:sp>
        <p:nvSpPr>
          <p:cNvPr id="7" name="anim3"/>
          <p:cNvSpPr/>
          <p:nvPr/>
        </p:nvSpPr>
        <p:spPr>
          <a:xfrm>
            <a:off x="822960" y="32004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0A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4200" dirty="0"/>
          </a:p>
        </p:txBody>
      </p:sp>
      <p:sp>
        <p:nvSpPr>
          <p:cNvPr id="8" name="anim3"/>
          <p:cNvSpPr/>
          <p:nvPr/>
        </p:nvSpPr>
        <p:spPr>
          <a:xfrm>
            <a:off x="822960" y="395020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top third — “best” is a recipe choice</a:t>
            </a:r>
            <a:endParaRPr lang="en-US" sz="1250" dirty="0"/>
          </a:p>
        </p:txBody>
      </p:sp>
      <p:sp>
        <p:nvSpPr>
          <p:cNvPr id="9" name="anim4"/>
          <p:cNvSpPr/>
          <p:nvPr/>
        </p:nvSpPr>
        <p:spPr>
          <a:xfrm>
            <a:off x="822960" y="4617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−8</a:t>
            </a:r>
            <a:endParaRPr lang="en-US" sz="4200" dirty="0"/>
          </a:p>
        </p:txBody>
      </p:sp>
      <p:sp>
        <p:nvSpPr>
          <p:cNvPr id="10" name="anim4"/>
          <p:cNvSpPr/>
          <p:nvPr/>
        </p:nvSpPr>
        <p:spPr>
          <a:xfrm>
            <a:off x="822960" y="53675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 if we drop compulsory voting alone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1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1" animBg="1"/>
      <p:bldP spid="6" grpId="2" animBg="1"/>
      <p:bldP spid="7" grpId="3" animBg="1"/>
      <p:bldP spid="8" grpId="4" animBg="1"/>
      <p:bldP spid="9" grpId="5" animBg="1"/>
      <p:bldP spid="10" grpId="6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two-speed nation</a:t>
            </a:r>
            <a:endParaRPr lang="en-US" sz="3200" dirty="0"/>
          </a:p>
        </p:txBody>
      </p:sp>
      <p:pic>
        <p:nvPicPr>
          <p:cNvPr id="4" name="anim1" descr="/sessions/practical-modest-lovelace/mnt/outputs/wdac/check/v2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1783080"/>
            <a:ext cx="7406640" cy="4251960"/>
          </a:xfrm>
          <a:prstGeom prst="rect">
            <a:avLst/>
          </a:prstGeom>
        </p:spPr>
      </p:pic>
      <p:sp>
        <p:nvSpPr>
          <p:cNvPr id="5" name="anim2"/>
          <p:cNvSpPr/>
          <p:nvPr/>
        </p:nvSpPr>
        <p:spPr>
          <a:xfrm>
            <a:off x="822960" y="2011680"/>
            <a:ext cx="32004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6" name="anim2"/>
          <p:cNvSpPr/>
          <p:nvPr/>
        </p:nvSpPr>
        <p:spPr>
          <a:xfrm>
            <a:off x="1024128" y="221284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8B60"/>
          </a:solidFill>
          <a:ln/>
        </p:spPr>
      </p:sp>
      <p:sp>
        <p:nvSpPr>
          <p:cNvPr id="7" name="anim2"/>
          <p:cNvSpPr/>
          <p:nvPr/>
        </p:nvSpPr>
        <p:spPr>
          <a:xfrm>
            <a:off x="1024128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anim2"/>
          <p:cNvSpPr/>
          <p:nvPr/>
        </p:nvSpPr>
        <p:spPr>
          <a:xfrm>
            <a:off x="1481328" y="2194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improving</a:t>
            </a:r>
            <a:endParaRPr lang="en-US" sz="1400" dirty="0"/>
          </a:p>
        </p:txBody>
      </p:sp>
      <p:sp>
        <p:nvSpPr>
          <p:cNvPr id="9" name="anim2"/>
          <p:cNvSpPr/>
          <p:nvPr/>
        </p:nvSpPr>
        <p:spPr>
          <a:xfrm>
            <a:off x="1024128" y="26517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· employment · life expectancy · falling work hours &amp; wage gap</a:t>
            </a:r>
            <a:endParaRPr lang="en-US" sz="1250" dirty="0"/>
          </a:p>
        </p:txBody>
      </p:sp>
      <p:sp>
        <p:nvSpPr>
          <p:cNvPr id="10" name="anim3"/>
          <p:cNvSpPr/>
          <p:nvPr/>
        </p:nvSpPr>
        <p:spPr>
          <a:xfrm>
            <a:off x="822960" y="3794760"/>
            <a:ext cx="32004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7EE"/>
            </a:solidFill>
            <a:prstDash val="solid"/>
          </a:ln>
        </p:spPr>
      </p:sp>
      <p:sp>
        <p:nvSpPr>
          <p:cNvPr id="11" name="anim3"/>
          <p:cNvSpPr/>
          <p:nvPr/>
        </p:nvSpPr>
        <p:spPr>
          <a:xfrm>
            <a:off x="1024128" y="399592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2" name="anim3"/>
          <p:cNvSpPr/>
          <p:nvPr/>
        </p:nvSpPr>
        <p:spPr>
          <a:xfrm>
            <a:off x="1024128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3" name="anim3"/>
          <p:cNvSpPr/>
          <p:nvPr/>
        </p:nvSpPr>
        <p:spPr>
          <a:xfrm>
            <a:off x="1481328" y="3977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worsening</a:t>
            </a:r>
            <a:endParaRPr lang="en-US" sz="1400" dirty="0"/>
          </a:p>
        </p:txBody>
      </p:sp>
      <p:sp>
        <p:nvSpPr>
          <p:cNvPr id="14" name="anim3"/>
          <p:cNvSpPr/>
          <p:nvPr/>
        </p:nvSpPr>
        <p:spPr>
          <a:xfrm>
            <a:off x="1024128" y="44348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support · deaths from suicide, alcohol &amp; drugs</a:t>
            </a:r>
            <a:endParaRPr lang="en-US" sz="1250" dirty="0"/>
          </a:p>
        </p:txBody>
      </p:sp>
      <p:sp>
        <p:nvSpPr>
          <p:cNvPr id="15" name="anim4"/>
          <p:cNvSpPr/>
          <p:nvPr/>
        </p:nvSpPr>
        <p:spPr>
          <a:xfrm>
            <a:off x="822960" y="54406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6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and fairer at work — lonelier and more self-destructive.</a:t>
            </a:r>
            <a:endParaRPr lang="en-US" sz="13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46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1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1" animBg="1"/>
      <p:bldP spid="6" grpId="2" animBg="1"/>
      <p:bldP spid="7" grpId="3" animBg="1"/>
      <p:bldP spid="8" grpId="4" animBg="1"/>
      <p:bldP spid="9" grpId="5" animBg="1"/>
      <p:bldP spid="10" grpId="6" animBg="1"/>
      <p:bldP spid="11" grpId="7" animBg="1"/>
      <p:bldP spid="12" grpId="8" animBg="1"/>
      <p:bldP spid="13" grpId="9" animBg="1"/>
      <p:bldP spid="14" grpId="10" animBg="1"/>
      <p:bldP spid="15" grpId="1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Leading the decline, not sharing it</a:t>
            </a:r>
            <a:endParaRPr lang="en-US" sz="3200" dirty="0"/>
          </a:p>
        </p:txBody>
      </p:sp>
      <p:sp>
        <p:nvSpPr>
          <p:cNvPr id="4" name="anim1"/>
          <p:cNvSpPr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 every rich country is getting lonelier? Against the whole OECD, the rebuttal fails.</a:t>
            </a:r>
            <a:endParaRPr lang="en-US" sz="1600" dirty="0"/>
          </a:p>
        </p:txBody>
      </p:sp>
      <p:pic>
        <p:nvPicPr>
          <p:cNvPr id="5" name="anim2" descr="/sessions/practical-modest-lovelace/mnt/outputs/wdac/check/v2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40280"/>
            <a:ext cx="10607040" cy="453542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1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669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2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blind spot, filled</a:t>
            </a:r>
            <a:endParaRPr lang="en-US" sz="3200" dirty="0"/>
          </a:p>
        </p:txBody>
      </p:sp>
      <p:pic>
        <p:nvPicPr>
          <p:cNvPr id="4" name="anim1" descr="/sessions/practical-modest-lovelace/mnt/outputs/wdac/check/v2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920240"/>
            <a:ext cx="7040880" cy="3913632"/>
          </a:xfrm>
          <a:prstGeom prst="rect">
            <a:avLst/>
          </a:prstGeom>
        </p:spPr>
      </p:pic>
      <p:sp>
        <p:nvSpPr>
          <p:cNvPr id="5" name="anim2"/>
          <p:cNvSpPr/>
          <p:nvPr/>
        </p:nvSpPr>
        <p:spPr>
          <a:xfrm>
            <a:off x="822960" y="2011680"/>
            <a:ext cx="3291840" cy="1371600"/>
          </a:xfrm>
          <a:prstGeom prst="roundRect">
            <a:avLst>
              <a:gd name="adj" fmla="val 6667"/>
            </a:avLst>
          </a:prstGeom>
          <a:solidFill>
            <a:srgbClr val="FFF6E6"/>
          </a:solidFill>
          <a:ln w="12700">
            <a:solidFill>
              <a:srgbClr val="E0A92E"/>
            </a:solidFill>
            <a:prstDash val="solid"/>
          </a:ln>
        </p:spPr>
      </p:sp>
      <p:sp>
        <p:nvSpPr>
          <p:cNvPr id="6" name="anim2"/>
          <p:cNvSpPr/>
          <p:nvPr/>
        </p:nvSpPr>
        <p:spPr>
          <a:xfrm>
            <a:off x="1005840" y="2148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63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Life-satisfaction data goes dark after 2020 — exactly where the trouble is.</a:t>
            </a:r>
            <a:endParaRPr lang="en-US" sz="1400" dirty="0"/>
          </a:p>
        </p:txBody>
      </p:sp>
      <p:sp>
        <p:nvSpPr>
          <p:cNvPr id="7" name="anim3"/>
          <p:cNvSpPr/>
          <p:nvPr/>
        </p:nvSpPr>
        <p:spPr>
          <a:xfrm>
            <a:off x="822960" y="36118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filled that one gap with an external source.</a:t>
            </a:r>
            <a:endParaRPr lang="en-US" sz="1300" dirty="0"/>
          </a:p>
        </p:txBody>
      </p:sp>
      <p:sp>
        <p:nvSpPr>
          <p:cNvPr id="8" name="anim4"/>
          <p:cNvSpPr/>
          <p:nvPr/>
        </p:nvSpPr>
        <p:spPr>
          <a:xfrm>
            <a:off x="822960" y="42519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6.97</a:t>
            </a:r>
            <a:pPr indent="0" marL="0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record low, 11ᵗʰ in the world</a:t>
            </a:r>
            <a:endParaRPr lang="en-US" sz="40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5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1" animBg="1"/>
      <p:bldP spid="6" grpId="2" animBg="1"/>
      <p:bldP spid="7" grpId="3" animBg="1"/>
      <p:bldP spid="8" grpId="4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2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436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0A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EA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Above average — and quietly sliding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EA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things hardest to count.</a:t>
            </a:r>
            <a:endParaRPr lang="en-US" sz="3800" dirty="0"/>
          </a:p>
        </p:txBody>
      </p:sp>
      <p:sp>
        <p:nvSpPr>
          <p:cNvPr id="5" name="anim1"/>
          <p:cNvSpPr/>
          <p:nvPr/>
        </p:nvSpPr>
        <p:spPr>
          <a:xfrm>
            <a:off x="822960" y="3063240"/>
            <a:ext cx="5120640" cy="2011680"/>
          </a:xfrm>
          <a:prstGeom prst="roundRect">
            <a:avLst>
              <a:gd name="adj" fmla="val 5455"/>
            </a:avLst>
          </a:prstGeom>
          <a:solidFill>
            <a:srgbClr val="16324B"/>
          </a:solidFill>
          <a:ln/>
        </p:spPr>
      </p:sp>
      <p:sp>
        <p:nvSpPr>
          <p:cNvPr id="6" name="anim1"/>
          <p:cNvSpPr/>
          <p:nvPr/>
        </p:nvSpPr>
        <p:spPr>
          <a:xfrm>
            <a:off x="1097280" y="33375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E8B60"/>
          </a:solidFill>
          <a:ln/>
        </p:spPr>
      </p:sp>
      <p:sp>
        <p:nvSpPr>
          <p:cNvPr id="7" name="anim1"/>
          <p:cNvSpPr/>
          <p:nvPr/>
        </p:nvSpPr>
        <p:spPr>
          <a:xfrm>
            <a:off x="1097280" y="3337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anim1"/>
          <p:cNvSpPr/>
          <p:nvPr/>
        </p:nvSpPr>
        <p:spPr>
          <a:xfrm>
            <a:off x="1554480" y="33101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8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20ᵗʰ-century ledger</a:t>
            </a:r>
            <a:endParaRPr lang="en-US" sz="1600" dirty="0"/>
          </a:p>
        </p:txBody>
      </p:sp>
      <p:sp>
        <p:nvSpPr>
          <p:cNvPr id="9" name="anim1"/>
          <p:cNvSpPr/>
          <p:nvPr/>
        </p:nvSpPr>
        <p:spPr>
          <a:xfrm>
            <a:off x="1097280" y="38404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· jobs · longevity — a durable, still-improving success.</a:t>
            </a:r>
            <a:endParaRPr lang="en-US" sz="1500" dirty="0"/>
          </a:p>
        </p:txBody>
      </p:sp>
      <p:sp>
        <p:nvSpPr>
          <p:cNvPr id="10" name="anim2"/>
          <p:cNvSpPr/>
          <p:nvPr/>
        </p:nvSpPr>
        <p:spPr>
          <a:xfrm>
            <a:off x="6217920" y="3063240"/>
            <a:ext cx="5120640" cy="2011680"/>
          </a:xfrm>
          <a:prstGeom prst="roundRect">
            <a:avLst>
              <a:gd name="adj" fmla="val 5455"/>
            </a:avLst>
          </a:prstGeom>
          <a:solidFill>
            <a:srgbClr val="16324B"/>
          </a:solidFill>
          <a:ln/>
        </p:spPr>
      </p:sp>
      <p:sp>
        <p:nvSpPr>
          <p:cNvPr id="11" name="anim2"/>
          <p:cNvSpPr/>
          <p:nvPr/>
        </p:nvSpPr>
        <p:spPr>
          <a:xfrm>
            <a:off x="6492240" y="333756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C1443C"/>
          </a:solidFill>
          <a:ln/>
        </p:spPr>
      </p:sp>
      <p:sp>
        <p:nvSpPr>
          <p:cNvPr id="12" name="anim2"/>
          <p:cNvSpPr/>
          <p:nvPr/>
        </p:nvSpPr>
        <p:spPr>
          <a:xfrm>
            <a:off x="6492240" y="3337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500" dirty="0"/>
          </a:p>
        </p:txBody>
      </p:sp>
      <p:sp>
        <p:nvSpPr>
          <p:cNvPr id="13" name="anim2"/>
          <p:cNvSpPr/>
          <p:nvPr/>
        </p:nvSpPr>
        <p:spPr>
          <a:xfrm>
            <a:off x="6949440" y="3310128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21ˢᵗ-century ledger</a:t>
            </a:r>
            <a:endParaRPr lang="en-US" sz="1600" dirty="0"/>
          </a:p>
        </p:txBody>
      </p:sp>
      <p:sp>
        <p:nvSpPr>
          <p:cNvPr id="14" name="anim2"/>
          <p:cNvSpPr/>
          <p:nvPr/>
        </p:nvSpPr>
        <p:spPr>
          <a:xfrm>
            <a:off x="6492240" y="38404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· distress · happiness — going backwards, faster than the OECD.</a:t>
            </a:r>
            <a:endParaRPr lang="en-US" sz="1500" dirty="0"/>
          </a:p>
        </p:txBody>
      </p:sp>
      <p:sp>
        <p:nvSpPr>
          <p:cNvPr id="15" name="anim3"/>
          <p:cNvSpPr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Australia's own “Measuring What Matters” framework (Treasury, 2023) was built on exactly this premise: GDP alone is not enough.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41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1" animBg="1"/>
      <p:bldP spid="7" grpId="2" animBg="1"/>
      <p:bldP spid="8" grpId="3" animBg="1"/>
      <p:bldP spid="9" grpId="4" animBg="1"/>
      <p:bldP spid="10" grpId="5" animBg="1"/>
      <p:bldP spid="11" grpId="6" animBg="1"/>
      <p:bldP spid="12" grpId="7" animBg="1"/>
      <p:bldP spid="13" grpId="8" animBg="1"/>
      <p:bldP spid="14" grpId="9" animBg="1"/>
      <p:bldP spid="15" grpId="1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2026-07-22T08:05:46Z</dcterms:created>
  <dcterms:modified xsi:type="dcterms:W3CDTF">2026-07-22T08:05:46Z</dcterms:modified>
</cp:coreProperties>
</file>